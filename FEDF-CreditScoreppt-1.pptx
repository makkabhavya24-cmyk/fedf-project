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6" r:id="rId2"/>
    <p:sldId id="260" r:id="rId3"/>
    <p:sldId id="278" r:id="rId4"/>
    <p:sldId id="257" r:id="rId5"/>
    <p:sldId id="321" r:id="rId6"/>
    <p:sldId id="326" r:id="rId7"/>
    <p:sldId id="322" r:id="rId8"/>
    <p:sldId id="323" r:id="rId9"/>
    <p:sldId id="329" r:id="rId10"/>
    <p:sldId id="330" r:id="rId11"/>
    <p:sldId id="324" r:id="rId12"/>
    <p:sldId id="277" r:id="rId13"/>
    <p:sldId id="320" r:id="rId14"/>
    <p:sldId id="331" r:id="rId15"/>
    <p:sldId id="332" r:id="rId16"/>
    <p:sldId id="327" r:id="rId1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812F8D-0BCB-4DCD-9F02-B0107B02C143}" v="1" dt="2026-06-30T12:31:30.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5" d="100"/>
          <a:sy n="45" d="100"/>
        </p:scale>
        <p:origin x="1072" y="3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Makka" userId="806610f039a07e5b" providerId="LiveId" clId="{4E6D2F78-9854-4FC5-B2E1-C8B73DF6ED9F}"/>
    <pc:docChg chg="modSld">
      <pc:chgData name="Bhavya Makka" userId="806610f039a07e5b" providerId="LiveId" clId="{4E6D2F78-9854-4FC5-B2E1-C8B73DF6ED9F}" dt="2026-06-30T12:31:30.749" v="1"/>
      <pc:docMkLst>
        <pc:docMk/>
      </pc:docMkLst>
      <pc:sldChg chg="modSp mod">
        <pc:chgData name="Bhavya Makka" userId="806610f039a07e5b" providerId="LiveId" clId="{4E6D2F78-9854-4FC5-B2E1-C8B73DF6ED9F}" dt="2026-06-30T12:31:30.749" v="1"/>
        <pc:sldMkLst>
          <pc:docMk/>
          <pc:sldMk cId="0" sldId="286"/>
        </pc:sldMkLst>
        <pc:spChg chg="mod">
          <ac:chgData name="Bhavya Makka" userId="806610f039a07e5b" providerId="LiveId" clId="{4E6D2F78-9854-4FC5-B2E1-C8B73DF6ED9F}" dt="2026-06-30T12:31:30.749" v="1"/>
          <ac:spMkLst>
            <pc:docMk/>
            <pc:sldMk cId="0" sldId="28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6/30/2026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t>Credit Score &amp; Financial Eligibility Prediction System</a:t>
            </a:r>
            <a:r>
              <a:rPr lang="en-US" sz="3200" dirty="0">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vert="horz" lIns="91440" tIns="45720" rIns="91440" bIns="45720" rtlCol="0" anchor="t">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P. Meghana                  roll 2520030461</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M. Bhavya                   roll 2520030005</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10</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D. Pavithra</a:t>
            </a:r>
          </a:p>
          <a:p>
            <a:pPr marR="0" algn="ctr" eaLnBrk="1" hangingPunct="1">
              <a:lnSpc>
                <a:spcPct val="80000"/>
              </a:lnSpc>
              <a:defRPr/>
            </a:pPr>
            <a:r>
              <a:rPr lang="en-US" sz="3400" b="1" dirty="0">
                <a:solidFill>
                  <a:srgbClr val="00B0F0"/>
                </a:solidFill>
                <a:latin typeface="Times New Roman"/>
                <a:cs typeface="Times New Roman"/>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a:latin typeface="Times New Roman" pitchFamily="18" charset="0"/>
                <a:cs typeface="Times New Roman" pitchFamily="18" charset="0"/>
              </a:rPr>
              <a:t>Abstract</a:t>
            </a:r>
          </a:p>
          <a:p>
            <a:r>
              <a:rPr lang="en-US">
                <a:latin typeface="Times New Roman" pitchFamily="18" charset="0"/>
                <a:cs typeface="Times New Roman" pitchFamily="18" charset="0"/>
              </a:rPr>
              <a:t>Introduction</a:t>
            </a:r>
          </a:p>
          <a:p>
            <a:r>
              <a:rPr lang="en-US">
                <a:latin typeface="Times New Roman" pitchFamily="18" charset="0"/>
                <a:cs typeface="Times New Roman" pitchFamily="18" charset="0"/>
              </a:rPr>
              <a:t>Problem Statement</a:t>
            </a:r>
          </a:p>
          <a:p>
            <a:r>
              <a:rPr lang="en-US">
                <a:latin typeface="Times New Roman" pitchFamily="18" charset="0"/>
                <a:cs typeface="Times New Roman" pitchFamily="18" charset="0"/>
              </a:rPr>
              <a:t>Project Flow Diagram</a:t>
            </a:r>
          </a:p>
          <a:p>
            <a:r>
              <a:rPr lang="en-US">
                <a:latin typeface="Times New Roman" pitchFamily="18" charset="0"/>
                <a:cs typeface="Times New Roman" pitchFamily="18" charset="0"/>
              </a:rPr>
              <a:t>Objectives with Justification</a:t>
            </a:r>
          </a:p>
          <a:p>
            <a:r>
              <a:rPr lang="en-US">
                <a:latin typeface="Times New Roman" pitchFamily="18" charset="0"/>
                <a:cs typeface="Times New Roman" pitchFamily="18" charset="0"/>
              </a:rPr>
              <a:t>Modules[Frontend web pages]</a:t>
            </a:r>
          </a:p>
          <a:p>
            <a:r>
              <a:rPr lang="en-US">
                <a:latin typeface="Times New Roman" pitchFamily="18" charset="0"/>
                <a:cs typeface="Times New Roman" pitchFamily="18" charset="0"/>
              </a:rPr>
              <a:t>Expected Outcomes of the Proposed Work</a:t>
            </a:r>
          </a:p>
          <a:p>
            <a:r>
              <a:rPr lang="en-US">
                <a:latin typeface="Times New Roman" pitchFamily="18" charset="0"/>
                <a:cs typeface="Times New Roman" pitchFamily="18" charset="0"/>
              </a:rPr>
              <a:t>Conclusion </a:t>
            </a:r>
          </a:p>
          <a:p>
            <a:r>
              <a:rPr lang="en-US">
                <a:latin typeface="Times New Roman" pitchFamily="18" charset="0"/>
                <a:cs typeface="Times New Roman" pitchFamily="18" charset="0"/>
              </a:rPr>
              <a:t>References</a:t>
            </a:r>
          </a:p>
          <a:p>
            <a:endParaRPr lang="en-US">
              <a:latin typeface="Times New Roman" pitchFamily="18" charset="0"/>
              <a:cs typeface="Times New Roman" pitchFamily="18" charset="0"/>
            </a:endParaRPr>
          </a:p>
          <a:p>
            <a:endParaRPr lang="en-US">
              <a:latin typeface="Times New Roman" pitchFamily="18" charset="0"/>
              <a:cs typeface="Times New Roman" pitchFamily="18" charset="0"/>
            </a:endParaRPr>
          </a:p>
          <a:p>
            <a:endParaRPr lang="en-US"/>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Abstract</a:t>
            </a:r>
            <a:endParaRPr lang="en-US" sz="280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92500" lnSpcReduction="20000"/>
          </a:bodyPr>
          <a:lstStyle/>
          <a:p>
            <a:pPr algn="just"/>
            <a:r>
              <a:rPr lang="en-US" dirty="0"/>
              <a:t>The Credit Score &amp; Financial Eligibility Prediction System is a web-based application designed to help users analyze their financial health and predict their creditworthiness. The system evaluates financial parameters such as income, expenses, savings, debts, and repayment history to estimate a credit score and determine loan eligibility. It provides interactive dashboards, financial analytics, and personalized recommendations that help users improve their credit profile and make informed financial decisions.</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4" name="Rectangle 1">
            <a:extLst>
              <a:ext uri="{FF2B5EF4-FFF2-40B4-BE49-F238E27FC236}">
                <a16:creationId xmlns:a16="http://schemas.microsoft.com/office/drawing/2014/main" id="{E55DB91B-9EFC-D885-ECEF-94B1892E5C30}"/>
              </a:ext>
            </a:extLst>
          </p:cNvPr>
          <p:cNvSpPr>
            <a:spLocks noGrp="1" noChangeArrowheads="1"/>
          </p:cNvSpPr>
          <p:nvPr>
            <p:ph idx="1"/>
          </p:nvPr>
        </p:nvSpPr>
        <p:spPr bwMode="auto">
          <a:xfrm>
            <a:off x="152400" y="1099682"/>
            <a:ext cx="88392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 </a:t>
            </a:r>
            <a:r>
              <a:rPr lang="en-US" sz="2800" dirty="0"/>
              <a:t>Credit scoring plays a crucial role in determining an individual's eligibility for loans and financial services. Traditional methods of evaluating creditworthiness are often complex and lack transparency. This project aims to develop a user-friendly platform that simplifies credit assessment by providing insights into financial behavior, spending patterns, and loan eligibility. The system enables users to understand the factors influencing their credit score and supports better financial planning.</a:t>
            </a:r>
          </a:p>
          <a:p>
            <a:pPr marL="0" lvl="0" indent="0" algn="just" eaLnBrk="0" fontAlgn="base" hangingPunct="0">
              <a:spcBef>
                <a:spcPct val="0"/>
              </a:spcBef>
              <a:spcAft>
                <a:spcPct val="0"/>
              </a:spcAft>
              <a:buFontTx/>
              <a:buChar char="•"/>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a:solidFill>
                  <a:srgbClr val="0070C0"/>
                </a:solidFill>
                <a:latin typeface="Times New Roman" pitchFamily="18" charset="0"/>
                <a:cs typeface="Times New Roman" pitchFamily="18" charset="0"/>
              </a:rPr>
              <a:t>Problem Statement</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85000" lnSpcReduction="10000"/>
          </a:bodyPr>
          <a:lstStyle/>
          <a:p>
            <a:r>
              <a:rPr lang="en-US" dirty="0"/>
              <a:t>Many individuals face difficulties in understanding their financial standing and the factors affecting their credit score. Existing systems provide limited transparency and often require manual analysis. There is a need for a smart and accessible platform that can:</a:t>
            </a:r>
          </a:p>
          <a:p>
            <a:r>
              <a:rPr lang="en-US" dirty="0"/>
              <a:t>Evaluate financial health. </a:t>
            </a:r>
          </a:p>
          <a:p>
            <a:r>
              <a:rPr lang="en-US" dirty="0"/>
              <a:t>Predict credit scores. </a:t>
            </a:r>
          </a:p>
          <a:p>
            <a:r>
              <a:rPr lang="en-US" dirty="0"/>
              <a:t>Determine loan eligibility. </a:t>
            </a:r>
          </a:p>
          <a:p>
            <a:r>
              <a:rPr lang="en-US" dirty="0"/>
              <a:t>Provide personalized financial recommendations. </a:t>
            </a:r>
          </a:p>
          <a:p>
            <a:r>
              <a:rPr lang="en-US" dirty="0"/>
              <a:t>Improve financial awareness and planning.</a:t>
            </a:r>
          </a:p>
          <a:p>
            <a:pPr algn="just"/>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8" name="Content Placeholder 7">
            <a:extLst>
              <a:ext uri="{FF2B5EF4-FFF2-40B4-BE49-F238E27FC236}">
                <a16:creationId xmlns:a16="http://schemas.microsoft.com/office/drawing/2014/main" id="{EB6D2C2D-6780-BD50-D4AE-9132F34919A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63346" y="1600200"/>
            <a:ext cx="3017308" cy="4525963"/>
          </a:xfrm>
          <a:prstGeom prst="rect">
            <a:avLst/>
          </a:prstGeom>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a:solidFill>
                  <a:srgbClr val="0070C0"/>
                </a:solidFill>
                <a:latin typeface="Times New Roman" pitchFamily="18" charset="0"/>
                <a:cs typeface="Times New Roman" pitchFamily="18" charset="0"/>
              </a:rPr>
              <a:t>Objectives with Justification</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85000" lnSpcReduction="10000"/>
          </a:bodyPr>
          <a:lstStyle/>
          <a:p>
            <a:pPr marL="0" indent="0">
              <a:buNone/>
            </a:pPr>
            <a:r>
              <a:rPr lang="en-US" b="1" dirty="0"/>
              <a:t>Objectives:</a:t>
            </a:r>
          </a:p>
          <a:p>
            <a:pPr marL="0" indent="0" algn="just">
              <a:buNone/>
            </a:pPr>
            <a:r>
              <a:rPr lang="en-US" dirty="0"/>
              <a:t>The main objective of this project is to develop a user-friendly system that analyzes financial data and predicts credit scores and loan eligibility. The application helps users understand their financial health through analytics, reports, and personalized recommendations. By providing transparent insights into credit evaluation, the system supports better financial planning, improves decision-making, and increases awareness of factors that influence creditworthiness. This makes financial assessment simpler, faster, and more accessible for users.</a:t>
            </a:r>
            <a:endParaRPr lang="en-US" b="1"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143000"/>
            <a:ext cx="8229600" cy="5440361"/>
          </a:xfrm>
        </p:spPr>
        <p:txBody>
          <a:bodyPr>
            <a:normAutofit/>
          </a:bodyPr>
          <a:lstStyle/>
          <a:p>
            <a:pPr marL="0" indent="0">
              <a:buNone/>
            </a:pPr>
            <a:r>
              <a:rPr lang="en-US" b="1" dirty="0"/>
              <a:t>Module 1: Login &amp; Registration Module </a:t>
            </a:r>
          </a:p>
          <a:p>
            <a:r>
              <a:rPr lang="en-US" dirty="0"/>
              <a:t>User authentication and account creation. </a:t>
            </a:r>
          </a:p>
          <a:p>
            <a:r>
              <a:rPr lang="en-US" dirty="0"/>
              <a:t>Secure access to the system.</a:t>
            </a:r>
            <a:endParaRPr lang="en-US" b="1" dirty="0"/>
          </a:p>
          <a:p>
            <a:pPr marL="0" indent="0">
              <a:buNone/>
            </a:pPr>
            <a:r>
              <a:rPr lang="en-US" b="1" dirty="0"/>
              <a:t>Module 2: Dashboard Page</a:t>
            </a:r>
          </a:p>
          <a:p>
            <a:r>
              <a:rPr lang="en-US" dirty="0"/>
              <a:t>Overview of financial metrics. </a:t>
            </a:r>
          </a:p>
          <a:p>
            <a:r>
              <a:rPr lang="en-US" dirty="0"/>
              <a:t>Credit score display and insights. </a:t>
            </a:r>
          </a:p>
          <a:p>
            <a:pPr marL="0" indent="0">
              <a:buNone/>
            </a:pPr>
            <a:r>
              <a:rPr lang="en-US" b="1" dirty="0"/>
              <a:t>Module 3: Analytics Module </a:t>
            </a:r>
          </a:p>
          <a:p>
            <a:r>
              <a:rPr lang="en-US" dirty="0"/>
              <a:t>Spending and savings analysis.</a:t>
            </a:r>
          </a:p>
          <a:p>
            <a:r>
              <a:rPr lang="en-US" dirty="0"/>
              <a:t> Visual representation of financial trends.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168C-0C66-1E9B-AA8B-1B44FFE4E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574E8-9507-58B9-A992-3944F8697F23}"/>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DD52498C-2150-6142-59E8-16A598D0B7B3}"/>
              </a:ext>
            </a:extLst>
          </p:cNvPr>
          <p:cNvSpPr>
            <a:spLocks noGrp="1"/>
          </p:cNvSpPr>
          <p:nvPr>
            <p:ph idx="1"/>
          </p:nvPr>
        </p:nvSpPr>
        <p:spPr>
          <a:xfrm>
            <a:off x="457200" y="1143000"/>
            <a:ext cx="8229600" cy="5622925"/>
          </a:xfrm>
        </p:spPr>
        <p:txBody>
          <a:bodyPr>
            <a:normAutofit fontScale="92500" lnSpcReduction="10000"/>
          </a:bodyPr>
          <a:lstStyle/>
          <a:p>
            <a:pPr marL="0" indent="0">
              <a:buNone/>
            </a:pPr>
            <a:r>
              <a:rPr lang="en-US" b="1" dirty="0"/>
              <a:t>Module 4: Credit Score Simulator</a:t>
            </a:r>
          </a:p>
          <a:p>
            <a:r>
              <a:rPr lang="en-US" dirty="0"/>
              <a:t>Simulates changes in credit score based on financial activities. </a:t>
            </a:r>
          </a:p>
          <a:p>
            <a:r>
              <a:rPr lang="en-US" dirty="0"/>
              <a:t>Helps users understand score improvement strategies.</a:t>
            </a:r>
            <a:endParaRPr lang="en-US" b="1" dirty="0"/>
          </a:p>
          <a:p>
            <a:pPr marL="0" indent="0">
              <a:buNone/>
            </a:pPr>
            <a:r>
              <a:rPr lang="en-US" b="1" dirty="0"/>
              <a:t>Module 5: Loan Eligibility </a:t>
            </a:r>
          </a:p>
          <a:p>
            <a:r>
              <a:rPr lang="en-US" dirty="0"/>
              <a:t>Evaluates eligibility for loans. </a:t>
            </a:r>
          </a:p>
          <a:p>
            <a:r>
              <a:rPr lang="en-US" dirty="0"/>
              <a:t>Displays approval probability and criteria.</a:t>
            </a:r>
            <a:endParaRPr lang="en-US" b="1" dirty="0"/>
          </a:p>
          <a:p>
            <a:pPr marL="0" indent="0">
              <a:buNone/>
            </a:pPr>
            <a:r>
              <a:rPr lang="en-US" b="1" dirty="0"/>
              <a:t>Module 6: Reports Module</a:t>
            </a:r>
          </a:p>
          <a:p>
            <a:r>
              <a:rPr lang="en-US" dirty="0"/>
              <a:t>Spending and savings analysis.</a:t>
            </a:r>
          </a:p>
          <a:p>
            <a:r>
              <a:rPr lang="en-US" dirty="0"/>
              <a:t> Visual representation of financial trends.</a:t>
            </a:r>
          </a:p>
          <a:p>
            <a:endParaRPr lang="en-US" dirty="0"/>
          </a:p>
        </p:txBody>
      </p:sp>
      <p:pic>
        <p:nvPicPr>
          <p:cNvPr id="4" name="Picture 3">
            <a:extLst>
              <a:ext uri="{FF2B5EF4-FFF2-40B4-BE49-F238E27FC236}">
                <a16:creationId xmlns:a16="http://schemas.microsoft.com/office/drawing/2014/main" id="{BA1AAA40-2E33-AAAD-4EEB-2F1374698F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386940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879ED-0FEC-F705-434E-29F9ED485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943FE-0142-0E66-BD13-A71AD806ED49}"/>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2536E365-5810-29E8-7E68-325107773269}"/>
              </a:ext>
            </a:extLst>
          </p:cNvPr>
          <p:cNvSpPr>
            <a:spLocks noGrp="1"/>
          </p:cNvSpPr>
          <p:nvPr>
            <p:ph idx="1"/>
          </p:nvPr>
        </p:nvSpPr>
        <p:spPr>
          <a:xfrm>
            <a:off x="457200" y="1143000"/>
            <a:ext cx="8229600" cy="5622925"/>
          </a:xfrm>
        </p:spPr>
        <p:txBody>
          <a:bodyPr>
            <a:normAutofit/>
          </a:bodyPr>
          <a:lstStyle/>
          <a:p>
            <a:pPr marL="0" indent="0">
              <a:buNone/>
            </a:pPr>
            <a:r>
              <a:rPr lang="en-US" b="1" dirty="0"/>
              <a:t>Module 7: Profile Management Module</a:t>
            </a:r>
          </a:p>
          <a:p>
            <a:r>
              <a:rPr lang="en-US" dirty="0"/>
              <a:t>Manage personal and financial information. </a:t>
            </a:r>
          </a:p>
          <a:p>
            <a:r>
              <a:rPr lang="en-US" dirty="0"/>
              <a:t>Update user preferences. </a:t>
            </a:r>
          </a:p>
          <a:p>
            <a:endParaRPr lang="en-US" dirty="0"/>
          </a:p>
        </p:txBody>
      </p:sp>
      <p:pic>
        <p:nvPicPr>
          <p:cNvPr id="4" name="Picture 3">
            <a:extLst>
              <a:ext uri="{FF2B5EF4-FFF2-40B4-BE49-F238E27FC236}">
                <a16:creationId xmlns:a16="http://schemas.microsoft.com/office/drawing/2014/main" id="{4DEEC1CC-10F1-06E2-2550-86A530614F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3090860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Times New Roman" pitchFamily="18" charset="0"/>
                <a:cs typeface="Times New Roman" pitchFamily="18" charset="0"/>
              </a:rPr>
              <a:t>Expected Outcomes of the Proposed Work</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304800" y="1325563"/>
            <a:ext cx="8229600" cy="4983164"/>
          </a:xfrm>
        </p:spPr>
        <p:txBody>
          <a:bodyPr>
            <a:normAutofit/>
          </a:bodyPr>
          <a:lstStyle/>
          <a:p>
            <a:r>
              <a:rPr lang="en-US" dirty="0"/>
              <a:t> Accurate estimation of credit scores.</a:t>
            </a:r>
          </a:p>
          <a:p>
            <a:r>
              <a:rPr lang="en-US" dirty="0"/>
              <a:t> Better understanding of financial health.</a:t>
            </a:r>
          </a:p>
          <a:p>
            <a:r>
              <a:rPr lang="en-US" dirty="0"/>
              <a:t>Improved financial planning and budgeting. </a:t>
            </a:r>
          </a:p>
          <a:p>
            <a:r>
              <a:rPr lang="en-US" dirty="0"/>
              <a:t>Loan eligibility prediction with greater transparency.</a:t>
            </a:r>
          </a:p>
          <a:p>
            <a:r>
              <a:rPr lang="en-US" dirty="0"/>
              <a:t>Personalized recommendations for credit improvement.</a:t>
            </a:r>
          </a:p>
          <a:p>
            <a:r>
              <a:rPr lang="en-US" dirty="0"/>
              <a:t>Enhanced user awareness of financial behavior.</a:t>
            </a:r>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a:solidFill>
                  <a:srgbClr val="0070C0"/>
                </a:solidFill>
                <a:latin typeface="Times New Roman" pitchFamily="18" charset="0"/>
                <a:cs typeface="Times New Roman" pitchFamily="18" charset="0"/>
              </a:rPr>
              <a:t>Conclusion and Future Scope</a:t>
            </a:r>
            <a:endParaRPr lang="en-IN" sz="2800"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a:bodyPr>
          <a:lstStyle/>
          <a:p>
            <a:pPr algn="just"/>
            <a:r>
              <a:rPr lang="en-US" dirty="0"/>
              <a:t>The proposed system provides a comprehensive platform for analyzing financial health, predicting credit scores, and assessing loan eligibility. It enables users to make informed financial decisions through data-driven insights and interactive analytics.</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p:txBody>
          <a:bodyPr>
            <a:normAutofit fontScale="92500" lnSpcReduction="10000"/>
          </a:bodyPr>
          <a:lstStyle/>
          <a:p>
            <a:pPr marL="0" indent="0">
              <a:buNone/>
            </a:pPr>
            <a:r>
              <a:rPr lang="en-US" b="1" dirty="0"/>
              <a:t>References:</a:t>
            </a:r>
          </a:p>
          <a:p>
            <a:r>
              <a:rPr lang="en-US" dirty="0"/>
              <a:t>React.js Official Documentation.</a:t>
            </a:r>
          </a:p>
          <a:p>
            <a:r>
              <a:rPr lang="en-US" dirty="0"/>
              <a:t>Vite Official Documentation.</a:t>
            </a:r>
          </a:p>
          <a:p>
            <a:r>
              <a:rPr lang="en-US" dirty="0"/>
              <a:t>Research Papers on Credit Scoring and Financial Risk Assessment.</a:t>
            </a:r>
          </a:p>
          <a:p>
            <a:r>
              <a:rPr lang="en-US" dirty="0"/>
              <a:t>Financial Analytics and Loan Eligibility Prediction Studies.</a:t>
            </a:r>
          </a:p>
          <a:p>
            <a:r>
              <a:rPr lang="en-US" dirty="0"/>
              <a:t>Artificial Intelligence Applications in Finance Journals.</a:t>
            </a:r>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5174-1AF8-61C8-38E8-3DFEA001F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1B243-8997-EE96-9AB2-97A26E87E5D6}"/>
              </a:ext>
            </a:extLst>
          </p:cNvPr>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CO’S Concepts Used </a:t>
            </a:r>
          </a:p>
        </p:txBody>
      </p:sp>
      <p:graphicFrame>
        <p:nvGraphicFramePr>
          <p:cNvPr id="3" name="Content Placeholder 2">
            <a:extLst>
              <a:ext uri="{FF2B5EF4-FFF2-40B4-BE49-F238E27FC236}">
                <a16:creationId xmlns:a16="http://schemas.microsoft.com/office/drawing/2014/main" id="{81AEAC1A-D3A6-062E-53E9-ED14B54A53AD}"/>
              </a:ext>
            </a:extLst>
          </p:cNvPr>
          <p:cNvGraphicFramePr>
            <a:graphicFrameLocks noGrp="1"/>
          </p:cNvGraphicFramePr>
          <p:nvPr>
            <p:ph idx="1"/>
            <p:extLst>
              <p:ext uri="{D42A27DB-BD31-4B8C-83A1-F6EECF244321}">
                <p14:modId xmlns:p14="http://schemas.microsoft.com/office/powerpoint/2010/main" val="3336629723"/>
              </p:ext>
            </p:extLst>
          </p:nvPr>
        </p:nvGraphicFramePr>
        <p:xfrm>
          <a:off x="1495540" y="1686799"/>
          <a:ext cx="6152920" cy="4206240"/>
        </p:xfrm>
        <a:graphic>
          <a:graphicData uri="http://schemas.openxmlformats.org/drawingml/2006/table">
            <a:tbl>
              <a:tblPr/>
              <a:tblGrid>
                <a:gridCol w="3076460">
                  <a:extLst>
                    <a:ext uri="{9D8B030D-6E8A-4147-A177-3AD203B41FA5}">
                      <a16:colId xmlns:a16="http://schemas.microsoft.com/office/drawing/2014/main" val="1290413770"/>
                    </a:ext>
                  </a:extLst>
                </a:gridCol>
                <a:gridCol w="3076460">
                  <a:extLst>
                    <a:ext uri="{9D8B030D-6E8A-4147-A177-3AD203B41FA5}">
                      <a16:colId xmlns:a16="http://schemas.microsoft.com/office/drawing/2014/main" val="4089320415"/>
                    </a:ext>
                  </a:extLst>
                </a:gridCol>
              </a:tblGrid>
              <a:tr h="0">
                <a:tc>
                  <a:txBody>
                    <a:bodyPr/>
                    <a:lstStyle/>
                    <a:p>
                      <a:pPr>
                        <a:buNone/>
                      </a:pPr>
                      <a:r>
                        <a:rPr lang="en-US" b="1" dirty="0"/>
                        <a:t>CO</a:t>
                      </a:r>
                    </a:p>
                  </a:txBody>
                  <a:tcPr anchor="ctr">
                    <a:lnL>
                      <a:noFill/>
                    </a:lnL>
                    <a:lnR>
                      <a:noFill/>
                    </a:lnR>
                    <a:lnT>
                      <a:noFill/>
                    </a:lnT>
                    <a:lnB>
                      <a:noFill/>
                    </a:lnB>
                    <a:noFill/>
                  </a:tcPr>
                </a:tc>
                <a:tc>
                  <a:txBody>
                    <a:bodyPr/>
                    <a:lstStyle/>
                    <a:p>
                      <a:pPr>
                        <a:buNone/>
                      </a:pPr>
                      <a:r>
                        <a:rPr lang="en-US" b="1" dirty="0"/>
                        <a:t>Concepts Used in Project</a:t>
                      </a:r>
                    </a:p>
                  </a:txBody>
                  <a:tcPr anchor="ctr">
                    <a:lnL>
                      <a:noFill/>
                    </a:lnL>
                    <a:lnR>
                      <a:noFill/>
                    </a:lnR>
                    <a:lnT>
                      <a:noFill/>
                    </a:lnT>
                    <a:lnB>
                      <a:noFill/>
                    </a:lnB>
                    <a:noFill/>
                  </a:tcPr>
                </a:tc>
                <a:extLst>
                  <a:ext uri="{0D108BD9-81ED-4DB2-BD59-A6C34878D82A}">
                    <a16:rowId xmlns:a16="http://schemas.microsoft.com/office/drawing/2014/main" val="436427622"/>
                  </a:ext>
                </a:extLst>
              </a:tr>
              <a:tr h="0">
                <a:tc>
                  <a:txBody>
                    <a:bodyPr/>
                    <a:lstStyle/>
                    <a:p>
                      <a:pPr>
                        <a:buNone/>
                      </a:pPr>
                      <a:r>
                        <a:rPr lang="en-US" dirty="0"/>
                        <a:t>CO1</a:t>
                      </a:r>
                    </a:p>
                  </a:txBody>
                  <a:tcPr anchor="ctr">
                    <a:lnL>
                      <a:noFill/>
                    </a:lnL>
                    <a:lnR>
                      <a:noFill/>
                    </a:lnR>
                    <a:lnT>
                      <a:noFill/>
                    </a:lnT>
                    <a:lnB>
                      <a:noFill/>
                    </a:lnB>
                    <a:noFill/>
                  </a:tcPr>
                </a:tc>
                <a:tc>
                  <a:txBody>
                    <a:bodyPr/>
                    <a:lstStyle/>
                    <a:p>
                      <a:pPr>
                        <a:buNone/>
                      </a:pPr>
                      <a:r>
                        <a:rPr lang="en-US"/>
                        <a:t>Component Architecture, Virtual DOM, State-driven UI</a:t>
                      </a:r>
                    </a:p>
                  </a:txBody>
                  <a:tcPr anchor="ctr">
                    <a:lnL>
                      <a:noFill/>
                    </a:lnL>
                    <a:lnR>
                      <a:noFill/>
                    </a:lnR>
                    <a:lnT>
                      <a:noFill/>
                    </a:lnT>
                    <a:lnB>
                      <a:noFill/>
                    </a:lnB>
                    <a:noFill/>
                  </a:tcPr>
                </a:tc>
                <a:extLst>
                  <a:ext uri="{0D108BD9-81ED-4DB2-BD59-A6C34878D82A}">
                    <a16:rowId xmlns:a16="http://schemas.microsoft.com/office/drawing/2014/main" val="3608248368"/>
                  </a:ext>
                </a:extLst>
              </a:tr>
              <a:tr h="0">
                <a:tc>
                  <a:txBody>
                    <a:bodyPr/>
                    <a:lstStyle/>
                    <a:p>
                      <a:pPr>
                        <a:buNone/>
                      </a:pPr>
                      <a:r>
                        <a:rPr lang="en-US" dirty="0"/>
                        <a:t>CO2</a:t>
                      </a:r>
                    </a:p>
                  </a:txBody>
                  <a:tcPr anchor="ctr">
                    <a:lnL>
                      <a:noFill/>
                    </a:lnL>
                    <a:lnR>
                      <a:noFill/>
                    </a:lnR>
                    <a:lnT>
                      <a:noFill/>
                    </a:lnT>
                    <a:lnB>
                      <a:noFill/>
                    </a:lnB>
                    <a:noFill/>
                  </a:tcPr>
                </a:tc>
                <a:tc>
                  <a:txBody>
                    <a:bodyPr/>
                    <a:lstStyle/>
                    <a:p>
                      <a:pPr>
                        <a:buNone/>
                      </a:pPr>
                      <a:r>
                        <a:rPr lang="en-US"/>
                        <a:t>ES6, Async/Await, Promises, Modules</a:t>
                      </a:r>
                    </a:p>
                  </a:txBody>
                  <a:tcPr anchor="ctr">
                    <a:lnL>
                      <a:noFill/>
                    </a:lnL>
                    <a:lnR>
                      <a:noFill/>
                    </a:lnR>
                    <a:lnT>
                      <a:noFill/>
                    </a:lnT>
                    <a:lnB>
                      <a:noFill/>
                    </a:lnB>
                    <a:noFill/>
                  </a:tcPr>
                </a:tc>
                <a:extLst>
                  <a:ext uri="{0D108BD9-81ED-4DB2-BD59-A6C34878D82A}">
                    <a16:rowId xmlns:a16="http://schemas.microsoft.com/office/drawing/2014/main" val="86196056"/>
                  </a:ext>
                </a:extLst>
              </a:tr>
              <a:tr h="0">
                <a:tc>
                  <a:txBody>
                    <a:bodyPr/>
                    <a:lstStyle/>
                    <a:p>
                      <a:pPr>
                        <a:buNone/>
                      </a:pPr>
                      <a:r>
                        <a:rPr lang="en-US" dirty="0"/>
                        <a:t>CO3</a:t>
                      </a:r>
                    </a:p>
                  </a:txBody>
                  <a:tcPr anchor="ctr">
                    <a:lnL>
                      <a:noFill/>
                    </a:lnL>
                    <a:lnR>
                      <a:noFill/>
                    </a:lnR>
                    <a:lnT>
                      <a:noFill/>
                    </a:lnT>
                    <a:lnB>
                      <a:noFill/>
                    </a:lnB>
                    <a:noFill/>
                  </a:tcPr>
                </a:tc>
                <a:tc>
                  <a:txBody>
                    <a:bodyPr/>
                    <a:lstStyle/>
                    <a:p>
                      <a:pPr>
                        <a:buNone/>
                      </a:pPr>
                      <a:r>
                        <a:rPr lang="en-US" dirty="0"/>
                        <a:t>Components, Props, State, Hooks, Forms</a:t>
                      </a:r>
                    </a:p>
                  </a:txBody>
                  <a:tcPr anchor="ctr">
                    <a:lnL>
                      <a:noFill/>
                    </a:lnL>
                    <a:lnR>
                      <a:noFill/>
                    </a:lnR>
                    <a:lnT>
                      <a:noFill/>
                    </a:lnT>
                    <a:lnB>
                      <a:noFill/>
                    </a:lnB>
                    <a:noFill/>
                  </a:tcPr>
                </a:tc>
                <a:extLst>
                  <a:ext uri="{0D108BD9-81ED-4DB2-BD59-A6C34878D82A}">
                    <a16:rowId xmlns:a16="http://schemas.microsoft.com/office/drawing/2014/main" val="3381928706"/>
                  </a:ext>
                </a:extLst>
              </a:tr>
              <a:tr h="0">
                <a:tc>
                  <a:txBody>
                    <a:bodyPr/>
                    <a:lstStyle/>
                    <a:p>
                      <a:pPr>
                        <a:buNone/>
                      </a:pPr>
                      <a:r>
                        <a:rPr lang="en-US"/>
                        <a:t>CO4</a:t>
                      </a:r>
                    </a:p>
                  </a:txBody>
                  <a:tcPr anchor="ctr">
                    <a:lnL>
                      <a:noFill/>
                    </a:lnL>
                    <a:lnR>
                      <a:noFill/>
                    </a:lnR>
                    <a:lnT>
                      <a:noFill/>
                    </a:lnT>
                    <a:lnB>
                      <a:noFill/>
                    </a:lnB>
                    <a:noFill/>
                  </a:tcPr>
                </a:tc>
                <a:tc>
                  <a:txBody>
                    <a:bodyPr/>
                    <a:lstStyle/>
                    <a:p>
                      <a:pPr>
                        <a:buNone/>
                      </a:pPr>
                      <a:r>
                        <a:rPr lang="en-US"/>
                        <a:t>State Management, Data Processing, Async Operations</a:t>
                      </a:r>
                    </a:p>
                  </a:txBody>
                  <a:tcPr anchor="ctr">
                    <a:lnL>
                      <a:noFill/>
                    </a:lnL>
                    <a:lnR>
                      <a:noFill/>
                    </a:lnR>
                    <a:lnT>
                      <a:noFill/>
                    </a:lnT>
                    <a:lnB>
                      <a:noFill/>
                    </a:lnB>
                    <a:noFill/>
                  </a:tcPr>
                </a:tc>
                <a:extLst>
                  <a:ext uri="{0D108BD9-81ED-4DB2-BD59-A6C34878D82A}">
                    <a16:rowId xmlns:a16="http://schemas.microsoft.com/office/drawing/2014/main" val="1297093893"/>
                  </a:ext>
                </a:extLst>
              </a:tr>
              <a:tr h="0">
                <a:tc>
                  <a:txBody>
                    <a:bodyPr/>
                    <a:lstStyle/>
                    <a:p>
                      <a:pPr>
                        <a:buNone/>
                      </a:pPr>
                      <a:r>
                        <a:rPr lang="en-US"/>
                        <a:t>CO5</a:t>
                      </a:r>
                    </a:p>
                  </a:txBody>
                  <a:tcPr anchor="ctr">
                    <a:lnL>
                      <a:noFill/>
                    </a:lnL>
                    <a:lnR>
                      <a:noFill/>
                    </a:lnR>
                    <a:lnT>
                      <a:noFill/>
                    </a:lnT>
                    <a:lnB>
                      <a:noFill/>
                    </a:lnB>
                    <a:noFill/>
                  </a:tcPr>
                </a:tc>
                <a:tc>
                  <a:txBody>
                    <a:bodyPr/>
                    <a:lstStyle/>
                    <a:p>
                      <a:pPr>
                        <a:buNone/>
                      </a:pPr>
                      <a:r>
                        <a:rPr lang="en-US"/>
                        <a:t>Routing, Form Validation, Accessibility</a:t>
                      </a:r>
                    </a:p>
                  </a:txBody>
                  <a:tcPr anchor="ctr">
                    <a:lnL>
                      <a:noFill/>
                    </a:lnL>
                    <a:lnR>
                      <a:noFill/>
                    </a:lnR>
                    <a:lnT>
                      <a:noFill/>
                    </a:lnT>
                    <a:lnB>
                      <a:noFill/>
                    </a:lnB>
                    <a:noFill/>
                  </a:tcPr>
                </a:tc>
                <a:extLst>
                  <a:ext uri="{0D108BD9-81ED-4DB2-BD59-A6C34878D82A}">
                    <a16:rowId xmlns:a16="http://schemas.microsoft.com/office/drawing/2014/main" val="3981526289"/>
                  </a:ext>
                </a:extLst>
              </a:tr>
              <a:tr h="0">
                <a:tc>
                  <a:txBody>
                    <a:bodyPr/>
                    <a:lstStyle/>
                    <a:p>
                      <a:pPr>
                        <a:buNone/>
                      </a:pPr>
                      <a:r>
                        <a:rPr lang="en-US" dirty="0"/>
                        <a:t>CO6</a:t>
                      </a:r>
                    </a:p>
                  </a:txBody>
                  <a:tcPr anchor="ctr">
                    <a:lnL>
                      <a:noFill/>
                    </a:lnL>
                    <a:lnR>
                      <a:noFill/>
                    </a:lnR>
                    <a:lnT>
                      <a:noFill/>
                    </a:lnT>
                    <a:lnB>
                      <a:noFill/>
                    </a:lnB>
                    <a:noFill/>
                  </a:tcPr>
                </a:tc>
                <a:tc>
                  <a:txBody>
                    <a:bodyPr/>
                    <a:lstStyle/>
                    <a:p>
                      <a:pPr>
                        <a:buNone/>
                      </a:pPr>
                      <a:r>
                        <a:rPr lang="en-US" dirty="0"/>
                        <a:t>Vite, Deployment, Optimization, Scalability</a:t>
                      </a:r>
                    </a:p>
                  </a:txBody>
                  <a:tcPr anchor="ctr">
                    <a:lnL>
                      <a:noFill/>
                    </a:lnL>
                    <a:lnR>
                      <a:noFill/>
                    </a:lnR>
                    <a:lnT>
                      <a:noFill/>
                    </a:lnT>
                    <a:lnB>
                      <a:noFill/>
                    </a:lnB>
                    <a:noFill/>
                  </a:tcPr>
                </a:tc>
                <a:extLst>
                  <a:ext uri="{0D108BD9-81ED-4DB2-BD59-A6C34878D82A}">
                    <a16:rowId xmlns:a16="http://schemas.microsoft.com/office/drawing/2014/main" val="801968023"/>
                  </a:ext>
                </a:extLst>
              </a:tr>
            </a:tbl>
          </a:graphicData>
        </a:graphic>
      </p:graphicFrame>
      <p:pic>
        <p:nvPicPr>
          <p:cNvPr id="5" name="Picture 4">
            <a:extLst>
              <a:ext uri="{FF2B5EF4-FFF2-40B4-BE49-F238E27FC236}">
                <a16:creationId xmlns:a16="http://schemas.microsoft.com/office/drawing/2014/main" id="{8BAFD3D7-C46A-AF28-E32A-07E33B5CA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1996705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4B7E-093B-E82B-C2C2-084034B51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9E775-21D9-53E8-5A89-38A8E39BCF0D}"/>
              </a:ext>
            </a:extLst>
          </p:cNvPr>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B9B1C327-21D8-3CE6-A20C-0E30565364FC}"/>
              </a:ext>
            </a:extLst>
          </p:cNvPr>
          <p:cNvSpPr>
            <a:spLocks noGrp="1"/>
          </p:cNvSpPr>
          <p:nvPr>
            <p:ph idx="1"/>
          </p:nvPr>
        </p:nvSpPr>
        <p:spPr/>
        <p:txBody>
          <a:bodyPr>
            <a:normAutofit fontScale="92500" lnSpcReduction="10000"/>
          </a:bodyPr>
          <a:lstStyle/>
          <a:p>
            <a:pPr marL="0" indent="0">
              <a:buNone/>
            </a:pPr>
            <a:r>
              <a:rPr lang="en-US" b="1" dirty="0"/>
              <a:t>References:</a:t>
            </a:r>
          </a:p>
          <a:p>
            <a:r>
              <a:rPr lang="en-US" dirty="0"/>
              <a:t>React.js Official Documentation.</a:t>
            </a:r>
          </a:p>
          <a:p>
            <a:r>
              <a:rPr lang="en-US" dirty="0"/>
              <a:t>Vite Official Documentation.</a:t>
            </a:r>
          </a:p>
          <a:p>
            <a:r>
              <a:rPr lang="en-US" dirty="0"/>
              <a:t>Research Papers on Credit Scoring and Financial Risk Assessment.</a:t>
            </a:r>
          </a:p>
          <a:p>
            <a:r>
              <a:rPr lang="en-US" dirty="0"/>
              <a:t>Financial Analytics and Loan Eligibility Prediction Studies.</a:t>
            </a:r>
          </a:p>
          <a:p>
            <a:r>
              <a:rPr lang="en-US" dirty="0"/>
              <a:t>Artificial Intelligence Applications in Finance Journals.</a:t>
            </a:r>
            <a:endParaRPr lang="en-IN" dirty="0"/>
          </a:p>
        </p:txBody>
      </p:sp>
      <p:pic>
        <p:nvPicPr>
          <p:cNvPr id="5" name="Picture 4">
            <a:extLst>
              <a:ext uri="{FF2B5EF4-FFF2-40B4-BE49-F238E27FC236}">
                <a16:creationId xmlns:a16="http://schemas.microsoft.com/office/drawing/2014/main" id="{20E87226-91C3-4AAE-BDE0-4FB913DA8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954390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811</Words>
  <Application>Microsoft Office PowerPoint</Application>
  <PresentationFormat>On-screen Show (4:3)</PresentationFormat>
  <Paragraphs>109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Times New Roman</vt:lpstr>
      <vt:lpstr>Office Theme</vt:lpstr>
      <vt:lpstr> A Project Review Meeting    on Credit Score &amp; Financial Eligibility Prediction System </vt:lpstr>
      <vt:lpstr>Outline of the Presentation</vt:lpstr>
      <vt:lpstr>Abstract</vt:lpstr>
      <vt:lpstr>Introduction</vt:lpstr>
      <vt:lpstr>Problem Statement </vt:lpstr>
      <vt:lpstr>Project Flow Diagram</vt:lpstr>
      <vt:lpstr>Objectives with Justification </vt:lpstr>
      <vt:lpstr>Modules [Frontend web pages]</vt:lpstr>
      <vt:lpstr>Modules [Frontend web pages]</vt:lpstr>
      <vt:lpstr>Modules [Frontend web pages]</vt:lpstr>
      <vt:lpstr>Expected Outcomes of the Proposed Work </vt:lpstr>
      <vt:lpstr>Conclusion and Future Scope</vt:lpstr>
      <vt:lpstr>References </vt:lpstr>
      <vt:lpstr>CO’S Concepts Used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Bhavya Makka</cp:lastModifiedBy>
  <cp:revision>1</cp:revision>
  <dcterms:created xsi:type="dcterms:W3CDTF">2006-08-16T00:00:00Z</dcterms:created>
  <dcterms:modified xsi:type="dcterms:W3CDTF">2026-06-30T12:31:40Z</dcterms:modified>
</cp:coreProperties>
</file>